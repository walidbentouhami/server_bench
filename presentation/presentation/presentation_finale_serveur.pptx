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9144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000" b="1">
                <a:solidFill>
                  <a:srgbClr val="141414"/>
                </a:solidFill>
              </a:defRPr>
            </a:pPr>
            <a:r>
              <a:t>Serveurs TCP &amp; HTTP Haute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282828"/>
                </a:solidFill>
              </a:defRPr>
            </a:pPr>
            <a:r>
              <a:t>Multi-thread | Queue FIFO | Benchmarks | C/POSIX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41414"/>
                </a:solidFill>
              </a:defRPr>
            </a:pPr>
            <a:r>
              <a:t>Architecture Globale</a:t>
            </a:r>
          </a:p>
        </p:txBody>
      </p:sp>
      <p:pic>
        <p:nvPicPr>
          <p:cNvPr id="4" name="Picture 3" descr="uml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28800"/>
            <a:ext cx="9144000" cy="39729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41414"/>
                </a:solidFill>
              </a:defRPr>
            </a:pPr>
            <a:r>
              <a:t>Queue FIFO Thread-Safe</a:t>
            </a:r>
          </a:p>
        </p:txBody>
      </p:sp>
      <p:pic>
        <p:nvPicPr>
          <p:cNvPr id="4" name="Picture 3" descr="uml_que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28800"/>
            <a:ext cx="9144000" cy="100459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41414"/>
                </a:solidFill>
              </a:defRPr>
            </a:pPr>
            <a:r>
              <a:t>Threads &amp; Workers</a:t>
            </a:r>
          </a:p>
        </p:txBody>
      </p:sp>
      <p:pic>
        <p:nvPicPr>
          <p:cNvPr id="4" name="Picture 3" descr="uml_thr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28800"/>
            <a:ext cx="9144000" cy="601956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41414"/>
                </a:solidFill>
              </a:defRPr>
            </a:pPr>
            <a:r>
              <a:t>Séquence TCP Mono-thread</a:t>
            </a:r>
          </a:p>
        </p:txBody>
      </p:sp>
      <p:pic>
        <p:nvPicPr>
          <p:cNvPr id="4" name="Picture 3" descr="uml_seq_tcp_monothre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28800"/>
            <a:ext cx="9144000" cy="121524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41414"/>
                </a:solidFill>
              </a:defRPr>
            </a:pPr>
            <a:r>
              <a:t>Séquence TCP Multi-thread</a:t>
            </a:r>
          </a:p>
        </p:txBody>
      </p:sp>
      <p:pic>
        <p:nvPicPr>
          <p:cNvPr id="4" name="Picture 3" descr="uml_seq_tcp_multithre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28800"/>
            <a:ext cx="9144000" cy="94044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41414"/>
                </a:solidFill>
              </a:defRPr>
            </a:pPr>
            <a:r>
              <a:t>Séquence HTTP Mono-thread</a:t>
            </a:r>
          </a:p>
        </p:txBody>
      </p:sp>
      <p:pic>
        <p:nvPicPr>
          <p:cNvPr id="4" name="Picture 3" descr="uml_seq_http_monothre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28800"/>
            <a:ext cx="9144000" cy="110956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41414"/>
                </a:solidFill>
              </a:defRPr>
            </a:pPr>
            <a:r>
              <a:t>Séquence HTTP Multi-thread</a:t>
            </a:r>
          </a:p>
        </p:txBody>
      </p:sp>
      <p:pic>
        <p:nvPicPr>
          <p:cNvPr id="4" name="Picture 3" descr="uml_seq_http_multithre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28800"/>
            <a:ext cx="9144000" cy="67894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41414"/>
                </a:solidFill>
              </a:defRPr>
            </a:pPr>
            <a:r>
              <a:t>Throughput (req/s)</a:t>
            </a:r>
          </a:p>
        </p:txBody>
      </p:sp>
      <p:pic>
        <p:nvPicPr>
          <p:cNvPr id="4" name="Picture 3" descr="1-throughp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28800"/>
            <a:ext cx="914400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41414"/>
                </a:solidFill>
              </a:defRPr>
            </a:pPr>
            <a:r>
              <a:t>Latence P99 (µs)</a:t>
            </a:r>
          </a:p>
        </p:txBody>
      </p:sp>
      <p:pic>
        <p:nvPicPr>
          <p:cNvPr id="4" name="Picture 3" descr="2-latency_p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28800"/>
            <a:ext cx="914400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41414"/>
                </a:solidFill>
              </a:defRPr>
            </a:pPr>
            <a:r>
              <a:t>Utilisation CPU</a:t>
            </a:r>
          </a:p>
        </p:txBody>
      </p:sp>
      <p:pic>
        <p:nvPicPr>
          <p:cNvPr id="4" name="Picture 3" descr="3-cp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28800"/>
            <a:ext cx="914400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41414"/>
                </a:solidFill>
              </a:defRPr>
            </a:pPr>
            <a:r>
              <a:t>Mémoire</a:t>
            </a:r>
          </a:p>
        </p:txBody>
      </p:sp>
      <p:pic>
        <p:nvPicPr>
          <p:cNvPr id="4" name="Picture 3" descr="4-mem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28800"/>
            <a:ext cx="914400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41414"/>
                </a:solidFill>
              </a:defRPr>
            </a:pPr>
            <a:r>
              <a:t>Speedup Multi-thread</a:t>
            </a:r>
          </a:p>
        </p:txBody>
      </p:sp>
      <p:pic>
        <p:nvPicPr>
          <p:cNvPr id="4" name="Picture 3" descr="5-speed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28800"/>
            <a:ext cx="914400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1414"/>
                </a:solidFill>
              </a:defRPr>
            </a:pPr>
            <a:r>
              <a:t>HTTP – Parser &amp; Réponses (http.c)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Implémente le parsing de la ligne de requête HTTP (méthode, chemin, query).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Gère un découpage robuste des espaces et des paramètres après '?'.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Fournit une API simple pour les serveurs : parse_http_request() + send_http_response().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Encapsule la construction d’une réponse HTTP 1.1 (status line, headers, body).</a:t>
            </a:r>
          </a:p>
        </p:txBody>
      </p:sp>
      <p:pic>
        <p:nvPicPr>
          <p:cNvPr id="5" name="Picture 4" descr="code_http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43200"/>
            <a:ext cx="9601200" cy="1241253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1414"/>
                </a:solidFill>
              </a:defRPr>
            </a:pPr>
            <a:r>
              <a:t>HTTP – Interface &amp; Constantes (http.h)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Expose les prototypes du parser et de l’émetteur de réponse HTTP.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Centralise les tailles de buffers et types utilisés côté HTTP.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Permet de partager le même moteur HTTP entre serveur mono et multi-thread.</a:t>
            </a:r>
          </a:p>
        </p:txBody>
      </p:sp>
      <p:pic>
        <p:nvPicPr>
          <p:cNvPr id="5" name="Picture 4" descr="code_http_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43200"/>
            <a:ext cx="9601200" cy="747143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1414"/>
                </a:solidFill>
              </a:defRPr>
            </a:pPr>
            <a:r>
              <a:t>Queue FIFO Thread-Safe (queue.c)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Implémente une file FIFO bornée, thread-safe, utilisée par le serveur multi-thread.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Utilise un mutex + 2 variables de condition (not_empty / not_full).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Supporte un mode shutdown propre pour réveiller tous les workers et le dispatcher.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Assure un comportement strictement FIFO et évite les conditions de course.</a:t>
            </a:r>
          </a:p>
        </p:txBody>
      </p:sp>
      <p:pic>
        <p:nvPicPr>
          <p:cNvPr id="5" name="Picture 4" descr="code_queue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43200"/>
            <a:ext cx="9601200" cy="2258403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1414"/>
                </a:solidFill>
              </a:defRPr>
            </a:pPr>
            <a:r>
              <a:t>Queue FIFO – Interface (queue.h)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Définit la structure queue_t (head, tail, size, size_max, mutex, cond).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Expose queue_init(), queue_push(), queue_pop(), queue_shutdown(), queue_destroy().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Permet de réutiliser la même abstration pour TCP et HTTP (multi-thread).</a:t>
            </a:r>
          </a:p>
        </p:txBody>
      </p:sp>
      <p:pic>
        <p:nvPicPr>
          <p:cNvPr id="5" name="Picture 4" descr="code_queue_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43200"/>
            <a:ext cx="9601200" cy="908421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1414"/>
                </a:solidFill>
              </a:defRPr>
            </a:pPr>
            <a:r>
              <a:t>Serveur TCP Mono-thread (serveur_mono.c)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Boucle accept() → recv() → traitement_lourd() → send() pour un seul client à la fois.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Utilise un traitement CPU-bound simulé (~100ms) pour mesurer la saturation.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Renvoie le carré du nombre reçu (+ timestamp µs) au client.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SIGINT handler simple : fermeture du socket serveur et exit immédiat.</a:t>
            </a:r>
          </a:p>
        </p:txBody>
      </p:sp>
      <p:pic>
        <p:nvPicPr>
          <p:cNvPr id="5" name="Picture 4" descr="code_serveur_mono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43200"/>
            <a:ext cx="9601200" cy="3077856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1414"/>
                </a:solidFill>
              </a:defRPr>
            </a:pPr>
            <a:r>
              <a:t>Serveur HTTP Mono-thread (serveur_mono_http.c)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Accepte les connexions une par une sur le port HTTP mono-thread (8080).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Parse la requête brute via http.c, route vers /, /hello, /time, /stats.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Gère des timeouts recv() pour éviter les connexions bloquées.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Idéal comme référence séquentielle pour comparer au multi-thread HTTP.</a:t>
            </a:r>
          </a:p>
        </p:txBody>
      </p:sp>
      <p:pic>
        <p:nvPicPr>
          <p:cNvPr id="5" name="Picture 4" descr="code_serveur_mono_http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43200"/>
            <a:ext cx="9601200" cy="3871559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1414"/>
                </a:solidFill>
              </a:defRPr>
            </a:pPr>
            <a:r>
              <a:t>Serveur TCP Multi-thread (serveur_multi.c)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Crée un pool fixe de WORKER_COUNT threads dès le démarrage.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Le thread principal accepte les connexions et les pousse dans la queue FIFO.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Chaque worker dépile un fd, exécute traitement_lourd(), renvoie la réponse, ferme le fd.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Gère SIGINT + queue_shutdown() pour un arrêt propre sans deadlock.</a:t>
            </a:r>
          </a:p>
        </p:txBody>
      </p:sp>
      <p:pic>
        <p:nvPicPr>
          <p:cNvPr id="5" name="Picture 4" descr="code_serveur_multi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43200"/>
            <a:ext cx="9601200" cy="4470328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1414"/>
                </a:solidFill>
              </a:defRPr>
            </a:pPr>
            <a:r>
              <a:t>Serveur HTTP Multi-thread (serveur_multi_http.c)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Architecture identique à TCP multi-thread, mais au niveau HTTP 1.1 (port 8081).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Workers parse la requête HTTP, appellent route_request(), renvoient une réponse JSON/HTML.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Statistiques globales /stats protégées par mutex (total_requests, hello_requests, 404).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Utilise SO_RCVTIMEO pour limiter la durée de blocage sur recv().</a:t>
            </a:r>
          </a:p>
        </p:txBody>
      </p:sp>
      <p:pic>
        <p:nvPicPr>
          <p:cNvPr id="5" name="Picture 4" descr="code_serveur_multi_http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43200"/>
            <a:ext cx="9601200" cy="5727050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1414"/>
                </a:solidFill>
              </a:defRPr>
            </a:pPr>
            <a:r>
              <a:t>Client de Charge / Benchmarks (python/client_stress.py)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Génère des centaines de clients concurrents pour mesurer throughput et latence.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Ouvre des connexions TCP/HTTP, envoie des requêtes, collecte les temps de réponse.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Produit des métriques agrégées (P50, P95, P99, RPS) en JSON / Excel.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Alimente le dashboard Plotly + les figures utilisées dans la présentation.</a:t>
            </a:r>
          </a:p>
        </p:txBody>
      </p:sp>
      <p:pic>
        <p:nvPicPr>
          <p:cNvPr id="5" name="Picture 4" descr="code_client_stress_p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43200"/>
            <a:ext cx="9601200" cy="175165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